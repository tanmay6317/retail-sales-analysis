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40" r:id="rId5"/>
    <p:sldId id="343" r:id="rId6"/>
    <p:sldId id="367" r:id="rId7"/>
    <p:sldId id="356" r:id="rId8"/>
    <p:sldId id="357" r:id="rId9"/>
    <p:sldId id="358" r:id="rId10"/>
    <p:sldId id="359" r:id="rId11"/>
    <p:sldId id="361" r:id="rId12"/>
    <p:sldId id="365" r:id="rId13"/>
    <p:sldId id="364" r:id="rId14"/>
    <p:sldId id="363" r:id="rId15"/>
    <p:sldId id="362" r:id="rId16"/>
    <p:sldId id="366" r:id="rId17"/>
    <p:sldId id="360" r:id="rId18"/>
    <p:sldId id="35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048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93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9773-1321-A635-6571-921D25C84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76A0E-FBF8-FE75-6464-838BCDB4A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DF4BE-2B37-B5F0-F7BC-A768464DD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782BA-6EA2-5831-A58F-EC608970F1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153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E6CAB-C62A-C791-3F48-290F2ADA5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0FD89E-50F5-C24C-B819-0A0CDC3F3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253BDD-F009-8C29-50C5-FB1E65169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94C9E-AEF3-BBCC-7940-EF452A805A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811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A8406-6FD8-E86B-5E74-6B845A2E8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67DD43-32BD-03B5-BD23-1A0495D14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3D6DA-7970-CB2D-2867-BA8EFC096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64918-245E-7707-0A6F-7896C99E6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06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50F83-6D43-E372-48D6-06A91B482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7F9DD8-1D38-E794-7F39-E893CA581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A285B1-9B2F-7F9C-10B7-F73C9DD35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2611DE-E812-B474-0C0A-5DEEA4DC6C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517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3A82C-839E-2AD7-5EB4-5A4F3828C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59CFF-46D8-0FCE-DB84-5F60374E5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D96BB6-BBA4-AE09-548F-132C1AA725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3D727-D237-B76A-58AA-C3ABD27626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988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E17AF-D833-0509-8CE6-39AC18A74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9B050-0168-5559-E31D-7FD35DBF3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DB5E35-5974-5C17-6BCE-078D006F5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7B271-C085-69DC-86FC-CB4EEF074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293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0B81B-5A08-470A-DD89-B92013D14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127DB-6255-9C6C-8C5B-314281E2A1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B8721-D6C2-464E-27D7-281768D38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F0780-C50F-0FA3-5FE9-398A50FD8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873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9994E-9B18-B379-3977-6D2E36907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5D759-40F7-4098-AC87-E214EF789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DDE85-D098-954D-9A97-AECB035F9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1165A9-0238-CCA3-11E6-2B080F5DB5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758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E97FD-72ED-50A0-442C-8DF122EC7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EE0A35-2ED8-7A20-A159-5C9A0C3D8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F3F199-31E6-4C75-95A6-7CAC69AB96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9EC9F-11F2-53AB-3689-E86177ABBA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797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F57CA-0CC7-CAA1-D3A5-C0A458719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16558A-5E80-F623-7002-F7088F62D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D7AB88-4499-7666-0254-D062B61DD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FF7F2-1492-096B-5727-6F3364D12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1104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2DF86-F9FD-A522-D6CC-5F258987C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B852A-DFE3-ABA6-8F6F-CE321BE31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CD2DB9-A63A-FB79-5ABC-9EECB143D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AA1FE-B9A0-65FB-8746-873F3855A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8944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8BCD7-4F93-9B24-3EF1-063402CDE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18F530-C88F-98CA-BBEF-27CC29DEE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1C7BF5-D906-F5D9-433E-F752405BC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389A7-25DF-80B8-1311-A32853FE7E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5005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18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3/5/2026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62A4-2E4B-23FB-9F8B-D54C0F90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633046"/>
            <a:ext cx="10571998" cy="3366198"/>
          </a:xfrm>
        </p:spPr>
        <p:txBody>
          <a:bodyPr/>
          <a:lstStyle/>
          <a:p>
            <a:pPr lvl="0">
              <a:lnSpc>
                <a:spcPts val="5401"/>
              </a:lnSpc>
            </a:pPr>
            <a:r>
              <a:rPr lang="en-US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END-TO-END RETAIL PERFORMANCE &amp; BEHAVIORAL ANALYTICS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47C746-EC17-D8E3-1D64-F903524A0CC6}"/>
              </a:ext>
            </a:extLst>
          </p:cNvPr>
          <p:cNvSpPr txBox="1"/>
          <p:nvPr/>
        </p:nvSpPr>
        <p:spPr>
          <a:xfrm>
            <a:off x="3318387" y="4876801"/>
            <a:ext cx="5555226" cy="74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5401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BY: Tanmay </a:t>
            </a:r>
            <a:r>
              <a:rPr lang="en-US" sz="4000" b="1" dirty="0" err="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Kadwe</a:t>
            </a:r>
            <a:r>
              <a:rPr lang="en-US" sz="4000" b="1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endParaRPr lang="en-US" sz="4000" b="1" u="none" strike="noStrike" dirty="0">
              <a:solidFill>
                <a:srgbClr val="FFFFFF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  <p:extLst>
      <p:ext uri="{BB962C8B-B14F-4D97-AF65-F5344CB8AC3E}">
        <p14:creationId xmlns:p14="http://schemas.microsoft.com/office/powerpoint/2010/main" val="431835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CDD0-17F6-3312-AE6D-F7EB95E4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IN" dirty="0"/>
              <a:t>Project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36AA5-9DDA-DA9A-5469-6885A5A84D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46793" y="924340"/>
            <a:ext cx="5684373" cy="5009322"/>
          </a:xfrm>
        </p:spPr>
        <p:txBody>
          <a:bodyPr>
            <a:normAutofit/>
          </a:bodyPr>
          <a:lstStyle/>
          <a:p>
            <a:r>
              <a:rPr lang="en-US" dirty="0"/>
              <a:t>This project analyzes retail business data to understand:</a:t>
            </a:r>
          </a:p>
          <a:p>
            <a:r>
              <a:rPr lang="en-US" dirty="0"/>
              <a:t>• Sales performance</a:t>
            </a:r>
            <a:br>
              <a:rPr lang="en-US" dirty="0"/>
            </a:br>
            <a:r>
              <a:rPr lang="en-US" dirty="0"/>
              <a:t>• Customer behavior</a:t>
            </a:r>
            <a:br>
              <a:rPr lang="en-US" dirty="0"/>
            </a:br>
            <a:r>
              <a:rPr lang="en-US" dirty="0"/>
              <a:t>• Product performance</a:t>
            </a:r>
            <a:br>
              <a:rPr lang="en-US" dirty="0"/>
            </a:br>
            <a:r>
              <a:rPr lang="en-US" dirty="0"/>
              <a:t>• Store profitability</a:t>
            </a:r>
            <a:br>
              <a:rPr lang="en-US" dirty="0"/>
            </a:br>
            <a:r>
              <a:rPr lang="en-US" dirty="0"/>
              <a:t>• Product return patterns</a:t>
            </a:r>
          </a:p>
          <a:p>
            <a:r>
              <a:rPr lang="en-US" dirty="0"/>
              <a:t>The goal is to generate data-driven insights for better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959076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3EB11-CB1B-6BB3-60D0-19D2C141B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C40B6-3624-0D0B-9F08-DBD4C73D9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IN" dirty="0"/>
              <a:t>Business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02A30-9A21-915D-75EC-8BE375DEE64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46793" y="924340"/>
            <a:ext cx="5684373" cy="5009322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Business</a:t>
            </a:r>
            <a:r>
              <a:rPr lang="en-US" dirty="0"/>
              <a:t> questions addressed in this project:</a:t>
            </a:r>
          </a:p>
          <a:p>
            <a:r>
              <a:rPr lang="en-US" dirty="0"/>
              <a:t>1. What is the total revenue generated in the last 12 months? </a:t>
            </a:r>
          </a:p>
          <a:p>
            <a:r>
              <a:rPr lang="en-US" dirty="0"/>
              <a:t>2. Which are the top 5 best-selling products by quantity? </a:t>
            </a:r>
          </a:p>
          <a:p>
            <a:r>
              <a:rPr lang="en-US" dirty="0"/>
              <a:t>3. How many customers are from each region? </a:t>
            </a:r>
          </a:p>
          <a:p>
            <a:r>
              <a:rPr lang="en-US" dirty="0"/>
              <a:t>4. Which store has the highest profit in the past year? </a:t>
            </a:r>
          </a:p>
          <a:p>
            <a:r>
              <a:rPr lang="en-US" dirty="0"/>
              <a:t>5. What is the return rate by product category? </a:t>
            </a:r>
          </a:p>
          <a:p>
            <a:r>
              <a:rPr lang="en-US" dirty="0"/>
              <a:t>6. What is the average revenue per customer by age group? 7. Which sales channel (Online vs In-Store) is more profitable on average? </a:t>
            </a:r>
          </a:p>
          <a:p>
            <a:r>
              <a:rPr lang="en-US" dirty="0"/>
              <a:t>8. How has monthly profit changed over the last 2 years by region? </a:t>
            </a:r>
          </a:p>
          <a:p>
            <a:r>
              <a:rPr lang="en-US" dirty="0"/>
              <a:t>9. Identify the top 3 products with the highest return rate in each category. </a:t>
            </a:r>
          </a:p>
          <a:p>
            <a:r>
              <a:rPr lang="en-US" dirty="0"/>
              <a:t>10. Which 5 customers have contributed the most to total profit, and what is their tenure with the company? </a:t>
            </a:r>
          </a:p>
        </p:txBody>
      </p:sp>
    </p:spTree>
    <p:extLst>
      <p:ext uri="{BB962C8B-B14F-4D97-AF65-F5344CB8AC3E}">
        <p14:creationId xmlns:p14="http://schemas.microsoft.com/office/powerpoint/2010/main" val="352915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03640-2798-532A-0E09-887EE35D9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FDEA8-B94E-EF2F-AE53-44FC26B07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IN" dirty="0"/>
              <a:t>Dataset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C3698-E4C0-2DB2-7C9B-43FCDB8AEEE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066575" y="1494505"/>
            <a:ext cx="1938909" cy="261527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Sales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Order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Quantity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Discount</a:t>
            </a:r>
          </a:p>
          <a:p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827C52F-A969-EDE3-428F-8762EE480B75}"/>
              </a:ext>
            </a:extLst>
          </p:cNvPr>
          <p:cNvSpPr txBox="1">
            <a:spLocks/>
          </p:cNvSpPr>
          <p:nvPr/>
        </p:nvSpPr>
        <p:spPr>
          <a:xfrm>
            <a:off x="5066575" y="1037927"/>
            <a:ext cx="3418664" cy="456578"/>
          </a:xfrm>
          <a:prstGeom prst="rect">
            <a:avLst/>
          </a:prstGeom>
          <a:effectLst/>
        </p:spPr>
        <p:txBody>
          <a:bodyPr vert="horz" lIns="0" tIns="45720" rIns="0" bIns="45720" rtlCol="0" anchor="ctr">
            <a:normAutofit fontScale="92500" lnSpcReduction="10000"/>
          </a:bodyPr>
          <a:lstStyle>
            <a:lvl1pPr marL="0" indent="0" algn="l" defTabSz="4572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8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6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4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2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2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Five datasets were used:</a:t>
            </a:r>
          </a:p>
          <a:p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F538B7-E3F1-759A-7F12-6FBE1990AAEC}"/>
              </a:ext>
            </a:extLst>
          </p:cNvPr>
          <p:cNvSpPr txBox="1">
            <a:spLocks/>
          </p:cNvSpPr>
          <p:nvPr/>
        </p:nvSpPr>
        <p:spPr>
          <a:xfrm>
            <a:off x="5148840" y="4055858"/>
            <a:ext cx="1938909" cy="2615273"/>
          </a:xfrm>
          <a:prstGeom prst="rect">
            <a:avLst/>
          </a:prstGeom>
          <a:effectLst/>
        </p:spPr>
        <p:txBody>
          <a:bodyPr vert="horz" lIns="0" tIns="45720" rIns="0" bIns="45720" rtlCol="0" anchor="ctr">
            <a:normAutofit/>
          </a:bodyPr>
          <a:lstStyle>
            <a:lvl1pPr marL="0" indent="0" algn="l" defTabSz="4572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8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6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4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2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2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 dirty="0"/>
              <a:t>Products Data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Product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Brand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Cost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Unit Price</a:t>
            </a:r>
          </a:p>
          <a:p>
            <a:endParaRPr lang="en-IN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0AFB92-A250-BA4A-0078-7B04AF16B78D}"/>
              </a:ext>
            </a:extLst>
          </p:cNvPr>
          <p:cNvSpPr txBox="1">
            <a:spLocks/>
          </p:cNvSpPr>
          <p:nvPr/>
        </p:nvSpPr>
        <p:spPr>
          <a:xfrm>
            <a:off x="7381488" y="1494503"/>
            <a:ext cx="1938909" cy="2615273"/>
          </a:xfrm>
          <a:prstGeom prst="rect">
            <a:avLst/>
          </a:prstGeom>
          <a:effectLst/>
        </p:spPr>
        <p:txBody>
          <a:bodyPr vert="horz" lIns="0" tIns="45720" rIns="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8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6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4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2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2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Customers Data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Signup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Region</a:t>
            </a:r>
          </a:p>
          <a:p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0D1C78-76B2-8390-E7F7-50EAD8165303}"/>
              </a:ext>
            </a:extLst>
          </p:cNvPr>
          <p:cNvSpPr txBox="1">
            <a:spLocks/>
          </p:cNvSpPr>
          <p:nvPr/>
        </p:nvSpPr>
        <p:spPr>
          <a:xfrm>
            <a:off x="9702373" y="1494503"/>
            <a:ext cx="1938909" cy="2615273"/>
          </a:xfrm>
          <a:prstGeom prst="rect">
            <a:avLst/>
          </a:prstGeom>
          <a:effectLst/>
        </p:spPr>
        <p:txBody>
          <a:bodyPr vert="horz" lIns="0" tIns="45720" rIns="0" bIns="45720" rtlCol="0" anchor="ctr">
            <a:normAutofit/>
          </a:bodyPr>
          <a:lstStyle>
            <a:lvl1pPr marL="0" indent="0" algn="l" defTabSz="4572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8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6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4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2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2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Products Data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Cost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Unit Price</a:t>
            </a:r>
          </a:p>
          <a:p>
            <a:endParaRPr lang="en-I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617165-A2B1-75CC-B436-6D938CDD975B}"/>
              </a:ext>
            </a:extLst>
          </p:cNvPr>
          <p:cNvSpPr txBox="1">
            <a:spLocks/>
          </p:cNvSpPr>
          <p:nvPr/>
        </p:nvSpPr>
        <p:spPr>
          <a:xfrm>
            <a:off x="7381488" y="4109776"/>
            <a:ext cx="1938909" cy="1769915"/>
          </a:xfrm>
          <a:prstGeom prst="rect">
            <a:avLst/>
          </a:prstGeom>
          <a:effectLst/>
        </p:spPr>
        <p:txBody>
          <a:bodyPr vert="horz" lIns="0" tIns="45720" rIns="0" bIns="45720" rtlCol="0" anchor="ctr">
            <a:normAutofit/>
          </a:bodyPr>
          <a:lstStyle>
            <a:lvl1pPr marL="0" indent="0" algn="l" defTabSz="4572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8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6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4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2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 sz="1200" kern="120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 dirty="0"/>
              <a:t>Returns Data</a:t>
            </a: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Order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Return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Return Reason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2309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50CBF-F34B-82F4-3CAE-76669D2FF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21375-9364-17B5-64E5-B767CC6F1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IN" dirty="0"/>
              <a:t>Data Processing (Python)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39BAC-AEC8-85D2-384B-B9585C0CEC5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46793" y="924340"/>
            <a:ext cx="5684373" cy="5009322"/>
          </a:xfrm>
        </p:spPr>
        <p:txBody>
          <a:bodyPr>
            <a:normAutofit/>
          </a:bodyPr>
          <a:lstStyle/>
          <a:p>
            <a:r>
              <a:rPr lang="en-US" dirty="0"/>
              <a:t>Data cleaning and preprocessing steps:</a:t>
            </a:r>
          </a:p>
          <a:p>
            <a:r>
              <a:rPr lang="en-US" dirty="0"/>
              <a:t>• Converted date columns to correct format</a:t>
            </a:r>
            <a:br>
              <a:rPr lang="en-US" dirty="0"/>
            </a:br>
            <a:r>
              <a:rPr lang="en-US" dirty="0"/>
              <a:t>• Removed missing values</a:t>
            </a:r>
            <a:br>
              <a:rPr lang="en-US" dirty="0"/>
            </a:br>
            <a:r>
              <a:rPr lang="en-US" dirty="0"/>
              <a:t>• Removed duplicate records</a:t>
            </a:r>
            <a:br>
              <a:rPr lang="en-US" dirty="0"/>
            </a:br>
            <a:r>
              <a:rPr lang="en-US" dirty="0"/>
              <a:t>• Created calculated fields:</a:t>
            </a:r>
          </a:p>
          <a:p>
            <a:r>
              <a:rPr lang="en-US" dirty="0"/>
              <a:t>Revenue</a:t>
            </a:r>
            <a:br>
              <a:rPr lang="en-US" dirty="0"/>
            </a:br>
            <a:r>
              <a:rPr lang="en-US" dirty="0"/>
              <a:t>Profit</a:t>
            </a:r>
            <a:br>
              <a:rPr lang="en-US" dirty="0"/>
            </a:br>
            <a:r>
              <a:rPr lang="en-US" dirty="0"/>
              <a:t>Year-Month</a:t>
            </a:r>
          </a:p>
          <a:p>
            <a:endParaRPr lang="en-US" dirty="0"/>
          </a:p>
          <a:p>
            <a:r>
              <a:rPr lang="en-US" dirty="0"/>
              <a:t>Cleaned datasets were exported for SQL analysis.</a:t>
            </a:r>
          </a:p>
        </p:txBody>
      </p:sp>
    </p:spTree>
    <p:extLst>
      <p:ext uri="{BB962C8B-B14F-4D97-AF65-F5344CB8AC3E}">
        <p14:creationId xmlns:p14="http://schemas.microsoft.com/office/powerpoint/2010/main" val="1195805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F2598-564B-DD7F-4E2B-6CD03DDCE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21EF2-A4C7-5122-9968-1BE60661F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IN" dirty="0"/>
              <a:t>Data </a:t>
            </a:r>
            <a:r>
              <a:rPr lang="en-IN" dirty="0" err="1"/>
              <a:t>Modeling</a:t>
            </a:r>
            <a:r>
              <a:rPr lang="en-IN" dirty="0"/>
              <a:t> (SQL)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FC7EF-9E2B-586C-6B5E-7AE052B6B43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46793" y="924340"/>
            <a:ext cx="5684373" cy="5009322"/>
          </a:xfrm>
        </p:spPr>
        <p:txBody>
          <a:bodyPr>
            <a:normAutofit/>
          </a:bodyPr>
          <a:lstStyle/>
          <a:p>
            <a:r>
              <a:rPr lang="en-US" dirty="0"/>
              <a:t>A relational database structure was created.</a:t>
            </a:r>
          </a:p>
          <a:p>
            <a:r>
              <a:rPr lang="en-US" dirty="0"/>
              <a:t>Tables used:</a:t>
            </a:r>
          </a:p>
          <a:p>
            <a:r>
              <a:rPr lang="en-US" dirty="0"/>
              <a:t>• Customers</a:t>
            </a:r>
            <a:br>
              <a:rPr lang="en-US" dirty="0"/>
            </a:br>
            <a:r>
              <a:rPr lang="en-US" dirty="0"/>
              <a:t>• Products</a:t>
            </a:r>
            <a:br>
              <a:rPr lang="en-US" dirty="0"/>
            </a:br>
            <a:r>
              <a:rPr lang="en-US" dirty="0"/>
              <a:t>• Stores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Salesdata</a:t>
            </a:r>
            <a:br>
              <a:rPr lang="en-US" dirty="0"/>
            </a:br>
            <a:r>
              <a:rPr lang="en-US" dirty="0"/>
              <a:t>• Orders</a:t>
            </a:r>
            <a:br>
              <a:rPr lang="en-US" dirty="0"/>
            </a:br>
            <a:r>
              <a:rPr lang="en-US" dirty="0"/>
              <a:t>• Returns</a:t>
            </a:r>
          </a:p>
          <a:p>
            <a:r>
              <a:rPr lang="en-US" dirty="0"/>
              <a:t>Primary Keys and Foreign Keys were implemented to maintain </a:t>
            </a:r>
            <a:r>
              <a:rPr lang="en-US" b="1" dirty="0"/>
              <a:t>data integrity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2410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BEC9C-FBBA-EC1A-A630-A41AB090C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28159-517D-C94D-6E34-E5666252B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IN" dirty="0"/>
              <a:t>ER Diagram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031EA-3CCD-13D4-398B-57E4D61B0A4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79645" y="3723968"/>
            <a:ext cx="5684373" cy="2504662"/>
          </a:xfrm>
        </p:spPr>
        <p:txBody>
          <a:bodyPr>
            <a:normAutofit/>
          </a:bodyPr>
          <a:lstStyle/>
          <a:p>
            <a:r>
              <a:rPr lang="en-US" sz="1500" dirty="0"/>
              <a:t>Structure explanation:</a:t>
            </a:r>
          </a:p>
          <a:p>
            <a:r>
              <a:rPr lang="en-US" sz="1500" dirty="0" err="1"/>
              <a:t>Salesdata</a:t>
            </a:r>
            <a:r>
              <a:rPr lang="en-US" sz="1500" dirty="0"/>
              <a:t> acts as the </a:t>
            </a:r>
            <a:r>
              <a:rPr lang="en-US" sz="1500" b="1" dirty="0"/>
              <a:t>fact table</a:t>
            </a:r>
            <a:r>
              <a:rPr lang="en-US" sz="1500" dirty="0"/>
              <a:t> connected to:</a:t>
            </a:r>
          </a:p>
          <a:p>
            <a:r>
              <a:rPr lang="en-US" sz="1500" dirty="0"/>
              <a:t>Customers</a:t>
            </a:r>
            <a:br>
              <a:rPr lang="en-US" sz="1500" dirty="0"/>
            </a:br>
            <a:r>
              <a:rPr lang="en-US" sz="1500" dirty="0"/>
              <a:t>Products</a:t>
            </a:r>
            <a:br>
              <a:rPr lang="en-US" sz="1500" dirty="0"/>
            </a:br>
            <a:r>
              <a:rPr lang="en-US" sz="1500" dirty="0"/>
              <a:t>Stores</a:t>
            </a:r>
            <a:br>
              <a:rPr lang="en-US" sz="1500" dirty="0"/>
            </a:br>
            <a:r>
              <a:rPr lang="en-US" sz="1500" dirty="0"/>
              <a:t>Orders</a:t>
            </a:r>
          </a:p>
          <a:p>
            <a:r>
              <a:rPr lang="en-US" sz="1500" dirty="0"/>
              <a:t>Returns table is linked through Order ID.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38EEA1-C2A6-18D9-8C03-6F1FE6CBBE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181" t="10497" b="9330"/>
          <a:stretch>
            <a:fillRect/>
          </a:stretch>
        </p:blipFill>
        <p:spPr>
          <a:xfrm>
            <a:off x="5730620" y="471948"/>
            <a:ext cx="5300546" cy="308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032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F651D-BDF7-3EDE-C024-4433B9B3E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46F66-7D30-26AC-58CF-1FD566FFE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r>
              <a:rPr lang="en-US" dirty="0"/>
              <a:t>P</a:t>
            </a:r>
            <a:r>
              <a:rPr lang="en-IN" dirty="0" err="1"/>
              <a:t>ower</a:t>
            </a:r>
            <a:r>
              <a:rPr lang="en-IN" dirty="0"/>
              <a:t> BI Dashboards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4A40B-8088-A2EB-A0C7-52B4085CC7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0660" y="4042066"/>
            <a:ext cx="10650681" cy="2296843"/>
          </a:xfrm>
        </p:spPr>
        <p:txBody>
          <a:bodyPr/>
          <a:lstStyle/>
          <a:p>
            <a:pPr lvl="0"/>
            <a:r>
              <a:rPr lang="en-US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6964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39869-822C-A555-BA80-2601BE34F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4CFFC-57D4-2F5D-8989-5CCB7B896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r>
              <a:rPr lang="en-US" dirty="0"/>
              <a:t>P</a:t>
            </a:r>
            <a:r>
              <a:rPr lang="en-IN" dirty="0" err="1"/>
              <a:t>ower</a:t>
            </a:r>
            <a:r>
              <a:rPr lang="en-IN" dirty="0"/>
              <a:t> BI Dashboards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2C5C9-E3C0-BB26-FF1B-95B1634FB7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0660" y="4042066"/>
            <a:ext cx="10650681" cy="2296843"/>
          </a:xfrm>
        </p:spPr>
        <p:txBody>
          <a:bodyPr/>
          <a:lstStyle/>
          <a:p>
            <a:pPr lvl="0"/>
            <a:r>
              <a:rPr lang="en-US" noProof="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9A3B48-D514-6E39-DCB5-80F5E89B3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49" y="194811"/>
            <a:ext cx="11469701" cy="646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707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BDD5D-C517-D4B5-5433-009132DAE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47B5B-A15B-E03C-3788-93A2F93A2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r>
              <a:rPr lang="en-US" dirty="0"/>
              <a:t>P</a:t>
            </a:r>
            <a:r>
              <a:rPr lang="en-IN" dirty="0" err="1"/>
              <a:t>ower</a:t>
            </a:r>
            <a:r>
              <a:rPr lang="en-IN" dirty="0"/>
              <a:t> BI Dashboards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0A4BA-0915-C33B-A3AF-716326AB4E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0660" y="4042066"/>
            <a:ext cx="10650681" cy="2296843"/>
          </a:xfrm>
        </p:spPr>
        <p:txBody>
          <a:bodyPr/>
          <a:lstStyle/>
          <a:p>
            <a:pPr lvl="0"/>
            <a:r>
              <a:rPr lang="en-US" noProof="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FE083D-5C1B-DB08-2DED-A138046B2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34" y="323416"/>
            <a:ext cx="11435023" cy="621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275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E2B92-A8C4-507A-A825-C0E30DE0A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5667-0713-ADA1-32BA-F30456406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r>
              <a:rPr lang="en-US" dirty="0"/>
              <a:t>P</a:t>
            </a:r>
            <a:r>
              <a:rPr lang="en-IN" dirty="0" err="1"/>
              <a:t>ower</a:t>
            </a:r>
            <a:r>
              <a:rPr lang="en-IN" dirty="0"/>
              <a:t> BI Dashboards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A8396-260B-EF63-6B9A-B9C17E24FC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0660" y="4042066"/>
            <a:ext cx="10650681" cy="2296843"/>
          </a:xfrm>
        </p:spPr>
        <p:txBody>
          <a:bodyPr/>
          <a:lstStyle/>
          <a:p>
            <a:pPr lvl="0"/>
            <a:r>
              <a:rPr lang="en-US" noProof="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3EA453-CF47-82ED-0889-141C6D306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6" y="190048"/>
            <a:ext cx="11479227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379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613F6-E783-CDDF-6DCF-345233D14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190BC-7003-5AD7-96C5-9A621C1BF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r>
              <a:rPr lang="en-US" dirty="0"/>
              <a:t>P</a:t>
            </a:r>
            <a:r>
              <a:rPr lang="en-IN" dirty="0" err="1"/>
              <a:t>ower</a:t>
            </a:r>
            <a:r>
              <a:rPr lang="en-IN" dirty="0"/>
              <a:t> BI Dashboards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5577A-B5AE-625F-9DE4-A0666610A5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0660" y="4042066"/>
            <a:ext cx="10650681" cy="2296843"/>
          </a:xfrm>
        </p:spPr>
        <p:txBody>
          <a:bodyPr/>
          <a:lstStyle/>
          <a:p>
            <a:pPr lvl="0"/>
            <a:r>
              <a:rPr lang="en-US" noProof="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A10F99-1B76-E482-DA4F-6FF5B3A76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2" y="209100"/>
            <a:ext cx="11431595" cy="643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064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BDC56-B235-2AD4-6A73-2D2328FA5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C59B1-903E-1CC4-78FD-82CB04F7B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350B4-363F-6F08-C1CD-E6F514C12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0660" y="4042066"/>
            <a:ext cx="10650681" cy="2296843"/>
          </a:xfrm>
        </p:spPr>
        <p:txBody>
          <a:bodyPr/>
          <a:lstStyle/>
          <a:p>
            <a:pPr lvl="0"/>
            <a:r>
              <a:rPr lang="en-US" noProof="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42A334-9701-9789-5284-EDB77B1B0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13" y="190048"/>
            <a:ext cx="11460174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239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6D426-AA09-7DC8-9682-2B7AAA30B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0C60C-DE95-7BC7-7E45-C298F0057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DBD73-353D-DE10-54D0-2E15F93B967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46793" y="924340"/>
            <a:ext cx="5684373" cy="500932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In-Store sales dominate revenue contribution, while peak revenue was observed in Feb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Customers aged 41-60 contribute highest revenue and represent the largest customer segment.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Revenue is evenly distributed across categories, but profit efficiency varies, with Personal Care leading margin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Robinson PLC leads in revenue performance, while profitability varies significantly across stores, with cost structure heavily impacting net margins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Home &amp; Kitchen records the highest return volume, with November showing peak return rates and North region leading total returns.</a:t>
            </a:r>
          </a:p>
        </p:txBody>
      </p:sp>
    </p:spTree>
    <p:extLst>
      <p:ext uri="{BB962C8B-B14F-4D97-AF65-F5344CB8AC3E}">
        <p14:creationId xmlns:p14="http://schemas.microsoft.com/office/powerpoint/2010/main" val="577324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05011-03FC-652B-2538-4EAE68AB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60" y="1017858"/>
            <a:ext cx="10650681" cy="2719255"/>
          </a:xfrm>
        </p:spPr>
        <p:txBody>
          <a:bodyPr/>
          <a:lstStyle/>
          <a:p>
            <a:pPr lvl="0"/>
            <a:r>
              <a:rPr lang="en-US" dirty="0"/>
              <a:t>Thank You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A2349-EF0B-F33D-13F9-8262414616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0660" y="4042066"/>
            <a:ext cx="10650681" cy="2296843"/>
          </a:xfrm>
        </p:spPr>
        <p:txBody>
          <a:bodyPr/>
          <a:lstStyle/>
          <a:p>
            <a:pPr lvl="0"/>
            <a:r>
              <a:rPr lang="en-US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36579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ACCF44-01D5-4C40-9EAC-D3C3683409F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2B3831-C4F2-498C-8E5F-F8D6F90548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{47BEDFB4-855E-4127-8510-0E02668BB441}TF4e23ad37-c1a6-42e6-a6ec-6518d97eca9ec3cad5d6_win32-e4fb00466b0d</Template>
  <TotalTime>38</TotalTime>
  <Words>518</Words>
  <Application>Microsoft Office PowerPoint</Application>
  <PresentationFormat>Widescreen</PresentationFormat>
  <Paragraphs>100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Archivo Black</vt:lpstr>
      <vt:lpstr>Arial</vt:lpstr>
      <vt:lpstr>Calibri</vt:lpstr>
      <vt:lpstr>Century Gothic</vt:lpstr>
      <vt:lpstr>Wingdings 2</vt:lpstr>
      <vt:lpstr>Quotable</vt:lpstr>
      <vt:lpstr>END-TO-END RETAIL PERFORMANCE &amp; BEHAVIORAL ANALYTICS</vt:lpstr>
      <vt:lpstr>Project Overview</vt:lpstr>
      <vt:lpstr>Business Objectives</vt:lpstr>
      <vt:lpstr>Dataset Overview</vt:lpstr>
      <vt:lpstr>Data Processing (Python)</vt:lpstr>
      <vt:lpstr>Data Modeling (SQL)</vt:lpstr>
      <vt:lpstr>ER Diagram</vt:lpstr>
      <vt:lpstr>Power BI Dashboards</vt:lpstr>
      <vt:lpstr>Power BI Dashboards</vt:lpstr>
      <vt:lpstr>Power BI Dashboards</vt:lpstr>
      <vt:lpstr>Power BI Dashboards</vt:lpstr>
      <vt:lpstr>Power BI Dashboards</vt:lpstr>
      <vt:lpstr>PowerPoint Presentation</vt:lpstr>
      <vt:lpstr>Key Insights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TANMAY KADWE</dc:creator>
  <cp:lastModifiedBy>TANMAY KADWE</cp:lastModifiedBy>
  <cp:revision>1</cp:revision>
  <dcterms:created xsi:type="dcterms:W3CDTF">2026-03-05T06:33:44Z</dcterms:created>
  <dcterms:modified xsi:type="dcterms:W3CDTF">2026-03-05T07:12:25Z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